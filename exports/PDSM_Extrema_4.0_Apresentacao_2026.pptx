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E6961-1977-4B3F-872B-15037E0CF2ED}" v="1" dt="2026-01-27T18:18:22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o Villani" userId="5ba0a458475b589e" providerId="LiveId" clId="{A82455FB-18F4-4F86-BF32-46CA94D89034}"/>
    <pc:docChg chg="undo custSel modSld">
      <pc:chgData name="Caio Villani" userId="5ba0a458475b589e" providerId="LiveId" clId="{A82455FB-18F4-4F86-BF32-46CA94D89034}" dt="2026-01-27T20:09:45.805" v="41" actId="1076"/>
      <pc:docMkLst>
        <pc:docMk/>
      </pc:docMkLst>
      <pc:sldChg chg="modSp mod">
        <pc:chgData name="Caio Villani" userId="5ba0a458475b589e" providerId="LiveId" clId="{A82455FB-18F4-4F86-BF32-46CA94D89034}" dt="2026-01-27T18:56:23.939" v="29" actId="20577"/>
        <pc:sldMkLst>
          <pc:docMk/>
          <pc:sldMk cId="0" sldId="260"/>
        </pc:sldMkLst>
        <pc:spChg chg="mod">
          <ac:chgData name="Caio Villani" userId="5ba0a458475b589e" providerId="LiveId" clId="{A82455FB-18F4-4F86-BF32-46CA94D89034}" dt="2026-01-27T18:54:05.232" v="2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53:57.454" v="26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27:32.258" v="22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56:23.939" v="29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20:07:49.718" v="36" actId="14100"/>
        <pc:sldMkLst>
          <pc:docMk/>
          <pc:sldMk cId="0" sldId="266"/>
        </pc:sldMkLst>
        <pc:spChg chg="mod">
          <ac:chgData name="Caio Villani" userId="5ba0a458475b589e" providerId="LiveId" clId="{A82455FB-18F4-4F86-BF32-46CA94D89034}" dt="2026-01-27T20:07:49.718" v="36" actId="14100"/>
          <ac:spMkLst>
            <pc:docMk/>
            <pc:sldMk cId="0" sldId="266"/>
            <ac:spMk id="26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20:09:45.805" v="41" actId="1076"/>
        <pc:sldMkLst>
          <pc:docMk/>
          <pc:sldMk cId="0" sldId="267"/>
        </pc:sldMkLst>
        <pc:graphicFrameChg chg="mod modGraphic">
          <ac:chgData name="Caio Villani" userId="5ba0a458475b589e" providerId="LiveId" clId="{A82455FB-18F4-4F86-BF32-46CA94D89034}" dt="2026-01-27T20:09:45.805" v="41" actId="1076"/>
          <ac:graphicFrameMkLst>
            <pc:docMk/>
            <pc:sldMk cId="0" sldId="267"/>
            <ac:graphicFrameMk id="6" creationId="{00000000-0000-0000-0000-000000000000}"/>
          </ac:graphicFrameMkLst>
        </pc:graphicFrameChg>
      </pc:sldChg>
      <pc:sldChg chg="modSp mod">
        <pc:chgData name="Caio Villani" userId="5ba0a458475b589e" providerId="LiveId" clId="{A82455FB-18F4-4F86-BF32-46CA94D89034}" dt="2026-01-27T20:06:08.860" v="34" actId="1076"/>
        <pc:sldMkLst>
          <pc:docMk/>
          <pc:sldMk cId="0" sldId="268"/>
        </pc:sldMkLst>
        <pc:spChg chg="mod">
          <ac:chgData name="Caio Villani" userId="5ba0a458475b589e" providerId="LiveId" clId="{A82455FB-18F4-4F86-BF32-46CA94D89034}" dt="2026-01-27T20:06:08.860" v="34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6:02.790" v="33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2:51.419" v="31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Caio Villani" userId="5ba0a458475b589e" providerId="LiveId" clId="{A82455FB-18F4-4F86-BF32-46CA94D89034}" dt="2026-01-27T20:04:01.973" v="32" actId="1076"/>
          <ac:spMkLst>
            <pc:docMk/>
            <pc:sldMk cId="0" sldId="268"/>
            <ac:spMk id="20" creationId="{00000000-0000-0000-0000-000000000000}"/>
          </ac:spMkLst>
        </pc:spChg>
      </pc:sldChg>
      <pc:sldChg chg="modSp mod">
        <pc:chgData name="Caio Villani" userId="5ba0a458475b589e" providerId="LiveId" clId="{A82455FB-18F4-4F86-BF32-46CA94D89034}" dt="2026-01-27T18:19:05.248" v="19" actId="14100"/>
        <pc:sldMkLst>
          <pc:docMk/>
          <pc:sldMk cId="0" sldId="275"/>
        </pc:sldMkLst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13.454" v="0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7:24.583" v="2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Caio Villani" userId="5ba0a458475b589e" providerId="LiveId" clId="{A82455FB-18F4-4F86-BF32-46CA94D89034}" dt="2026-01-27T18:19:05.248" v="19" actId="14100"/>
          <ac:spMkLst>
            <pc:docMk/>
            <pc:sldMk cId="0" sldId="275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3716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PDSM Extrema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Plano de Desenvolvimento de Saúde Mental</a:t>
            </a:r>
          </a:p>
          <a:p>
            <a:pPr algn="ctr">
              <a:defRPr sz="3600" b="1">
                <a:solidFill>
                  <a:srgbClr val="00A859"/>
                </a:solidFill>
              </a:defRPr>
            </a:pPr>
            <a:r>
              <a:t>Etapa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E6"/>
                </a:solidFill>
              </a:defRPr>
            </a:pPr>
            <a:r>
              <a:t>Secretaria Municipal de Saúde | Extrema/MG | Janeiro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Estrutura da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Resgate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1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Diagnóstico, conquistas e fundamentos construídos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Visão 2026 - Metas Estratégicas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Transição de modelo e indicadores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Macro Ações 1º Semestre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Infraestrutura, equipes, capacitação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Expansão RAPS 2026-2028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Roadmap, investimentos, rede intersetorial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Protocolo de Compartilhamento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5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Modelo integrado APS-CSM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Cronograma e Próximos Passos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32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Entregas críticas e aprovações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Visão de Longo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RAPS 1.0 → RAPS 4.0 (2025-2028)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10058400" cy="73152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3063240"/>
            <a:ext cx="365760" cy="36576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1: Fundação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Diagnóstico situacional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Educação Permanente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Protocolos base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Linha Cuidado TEA/DI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3063240"/>
            <a:ext cx="365760" cy="36576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59"/>
                </a:solidFill>
              </a:defRPr>
            </a:pPr>
            <a: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2: Expansão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 I → CAPS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CECO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CAPS-i (infância)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Centro Integrar 4.0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3063240"/>
            <a:ext cx="365760" cy="36576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CA9"/>
                </a:solidFill>
              </a:defRPr>
            </a:pPr>
            <a: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3: Especialização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CAPS AD II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Consolidação matriciamento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Integração RUE</a:t>
            </a:r>
          </a:p>
        </p:txBody>
      </p:sp>
      <p:sp>
        <p:nvSpPr>
          <p:cNvPr id="19" name="Oval 18"/>
          <p:cNvSpPr/>
          <p:nvPr/>
        </p:nvSpPr>
        <p:spPr>
          <a:xfrm>
            <a:off x="10241280" y="3063240"/>
            <a:ext cx="365760" cy="36576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00080"/>
                </a:solidFill>
              </a:defRPr>
            </a:pPr>
            <a: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Fase 4: Maturidade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02336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• UAA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LSMHG (4-8 leitos)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• RAPS 4.0 completa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Diagnóstico Situacional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RAPS 1.0 - Problemas Identificados (Set/2025)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CAPS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Indicadores inconsistentes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tecnologia de informação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Fraca integração com rede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Núcleo Psicologia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Sobrecarga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Casos mistos (leves a graves)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Baixo matriciamento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Centro Integrar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Escopo indefinido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Sem protocolos padronizados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Isolado da RAPS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59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79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Emergência/Hospital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capacitação em SM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Complicações iatrogênicas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Desconectado da RAPS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097280"/>
            <a:ext cx="219456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19" y="1188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eMulti 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645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Escopo indefinido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Sem matriciamento estruturado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✗ Baixa resolutividade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08080"/>
                </a:solidFill>
              </a:defRPr>
            </a:pPr>
            <a:r>
              <a:t>Fonte: Diagnóstico situacional PDSM Extrema 4.0 (Set/2025)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0547" y="-93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Conquistas</a:t>
            </a:r>
            <a:r>
              <a:rPr dirty="0"/>
              <a:t> Set-Dez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81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rPr dirty="0" err="1"/>
              <a:t>Fundamentos</a:t>
            </a:r>
            <a:r>
              <a:rPr dirty="0"/>
              <a:t> </a:t>
            </a:r>
            <a:r>
              <a:rPr dirty="0" err="1"/>
              <a:t>Construídos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Etapa 1 da </a:t>
            </a:r>
            <a:r>
              <a:rPr dirty="0" err="1"/>
              <a:t>Linha</a:t>
            </a:r>
            <a:r>
              <a:rPr dirty="0"/>
              <a:t> de Cuidado TEA/DI </a:t>
            </a:r>
            <a:r>
              <a:rPr dirty="0" err="1"/>
              <a:t>iniciada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Educação</a:t>
            </a:r>
            <a:r>
              <a:rPr dirty="0"/>
              <a:t> Permanente </a:t>
            </a:r>
            <a:r>
              <a:rPr dirty="0" err="1"/>
              <a:t>estruturada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8 </a:t>
            </a:r>
            <a:r>
              <a:rPr dirty="0" err="1"/>
              <a:t>eixos</a:t>
            </a:r>
            <a:r>
              <a:rPr dirty="0"/>
              <a:t> </a:t>
            </a:r>
            <a:r>
              <a:rPr dirty="0" err="1"/>
              <a:t>temáticos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Descompressão</a:t>
            </a:r>
            <a:r>
              <a:rPr dirty="0"/>
              <a:t> da Rede: </a:t>
            </a:r>
            <a:r>
              <a:rPr dirty="0" err="1"/>
              <a:t>acolhimentos</a:t>
            </a:r>
            <a:r>
              <a:rPr dirty="0"/>
              <a:t> e </a:t>
            </a:r>
            <a:r>
              <a:rPr dirty="0" err="1"/>
              <a:t>mutirão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Produtos de navegação RAS construídos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Articulações institucionais estabelecidas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Auditoria metodológica CI/PDSM (12 pontos corrigidos)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Protocolo piloto de Compartilhamento do Cuidado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931920"/>
            <a:ext cx="8229600" cy="1371600"/>
          </a:xfrm>
          <a:prstGeom prst="roundRect">
            <a:avLst/>
          </a:prstGeom>
          <a:solidFill>
            <a:srgbClr val="E6F7E6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8624" y="4114800"/>
            <a:ext cx="602139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A859"/>
                </a:solidFill>
              </a:defRPr>
            </a:pPr>
            <a:r>
              <a:rPr dirty="0" err="1"/>
              <a:t>Transição</a:t>
            </a:r>
            <a:r>
              <a:rPr dirty="0"/>
              <a:t> </a:t>
            </a:r>
            <a:r>
              <a:rPr lang="pt-BR" dirty="0"/>
              <a:t>I</a:t>
            </a:r>
            <a:r>
              <a:rPr dirty="0" err="1"/>
              <a:t>niciada</a:t>
            </a:r>
            <a:r>
              <a:rPr dirty="0"/>
              <a:t>: Modelo </a:t>
            </a:r>
            <a:r>
              <a:rPr dirty="0" err="1"/>
              <a:t>Reativo</a:t>
            </a:r>
            <a:r>
              <a:rPr dirty="0"/>
              <a:t> → Modelo </a:t>
            </a:r>
            <a:r>
              <a:rPr dirty="0" err="1"/>
              <a:t>Proativo</a:t>
            </a:r>
            <a:endParaRPr dirty="0"/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rPr dirty="0" err="1"/>
              <a:t>Vigilância</a:t>
            </a:r>
            <a:r>
              <a:rPr dirty="0"/>
              <a:t> </a:t>
            </a:r>
            <a:r>
              <a:rPr dirty="0" err="1"/>
              <a:t>ativa</a:t>
            </a:r>
            <a:r>
              <a:rPr dirty="0"/>
              <a:t> | </a:t>
            </a:r>
            <a:r>
              <a:rPr dirty="0" err="1"/>
              <a:t>Diagnóstico</a:t>
            </a:r>
            <a:r>
              <a:rPr dirty="0"/>
              <a:t> territorial | </a:t>
            </a:r>
            <a:r>
              <a:rPr dirty="0" err="1"/>
              <a:t>Estratificação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 |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ativa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Linha de Cuidado TEA/DI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Framework Consolidado (5 Eixos Estruturantes)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05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Intervenção Precoce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Estimulação 0-3a (Precoce I), 3-6a (Precoce II)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Inclusão e Autonomia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Formação professores, habilidades sociais, atividades adaptadas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Apoio Familiar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Programas educativos, cuidado ao cuidador, destigmatização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49039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7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3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Gestão de Rede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Metodologia de matriciamento, coordenação PTS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7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Acesso e Equidade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Equipes móveis, telessaúde, transporte médico rural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005840"/>
            <a:ext cx="502920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Sistema de Priorização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83680" y="1737360"/>
          <a:ext cx="4663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Prioridade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Critérios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P1 - Urgente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 dias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&lt;3a rastreio+ | Regressão | Risco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P2 -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3-6a suspeita | Comprometimento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P3 - Regular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180 dias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&gt;6a suspeita | Adultos tardio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Documentação Técnica Desenvolvida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7.143 linhas de protocolos normativos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Protocolo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Linhas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CLI-02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Transtorno do Espectro Autista (v2.7)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1.928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PCC-06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Macrofluxo Narrativo DI/TEA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GN-01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Guia Narrativo APS DI/TEA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1.759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Álcool e Outras Drogas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ANA-01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Análise Integrada TEA/DI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Validado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114800"/>
            <a:ext cx="10972800" cy="1645920"/>
          </a:xfrm>
          <a:prstGeom prst="roundRect">
            <a:avLst/>
          </a:prstGeom>
          <a:solidFill>
            <a:srgbClr val="E6F5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Validação Técnica Internacional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CLI-02 v2.7 avaliado como tecnicamente SUPERIOR às referências internacionais:</a:t>
            </a:r>
          </a:p>
          <a:p>
            <a:pPr>
              <a:defRPr sz="1300" b="1">
                <a:solidFill>
                  <a:srgbClr val="00A859"/>
                </a:solidFill>
              </a:defRPr>
            </a:pPr>
            <a:r>
              <a:t>• NICE CG128 (UK)  •  Einstein Care Pathway  •  CDC Milestones (EUA)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Metodologia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Planifica SUS + Ciência da Implementação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Planifica SUS (CONASS/MS)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4 Macro Etapas estruturadas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12+ Micro Etapas detalhadas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Formato narrativo (O que | Por que | Como)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Matriz RACI de responsabilidades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5303520" cy="32004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Ciência da Implementação (CFIR)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5 domínios de implementação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Auditoria com 12 correções críticas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Monitoramento de consequências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Modelo lógico participativo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Instrumentos Validados Implementados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M-CHAT-R/F (85-95% sens.)  |  IRDI (31 indicadores)  |  CuidaSM  |  IFBrM  |  PHQ-9  |  GAD-7  |  Columbia-SSRS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Transição de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Reativo → Proativo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029200" cy="27432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ANTES: Modelo Reativo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Espera pela demanda espontânea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Atendimento por crise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Fragmentação do cuidado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Baixa integração de rede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2194560"/>
            <a:ext cx="731520" cy="548640"/>
          </a:xfrm>
          <a:prstGeom prst="rightArrow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AGORA: Modelo Proativo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Vigilância ativa via ACS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Diagnóstico territorial sistemático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Estratificação de risco (PHQ-9, GAD-7)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Busca ativa de casos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0972800" cy="1828800"/>
          </a:xfrm>
          <a:prstGeom prst="roundRect">
            <a:avLst/>
          </a:prstGeom>
          <a:solidFill>
            <a:srgbClr val="F5FA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Resultados Esperados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33333"/>
                </a:solidFill>
              </a:defRPr>
            </a:pPr>
            <a:r>
              <a:t>↓ Crises evitadas  |  ↓ Internações  |  ↑ Diagnóstico precoce  |  ↑ Resolutividade APS  |  ↑ Qualidade de vida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 Metas Estratégicas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Direcionadores do Plano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Modernização das Tecnologias Municipais de Cuidado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74519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da RCPD (Rede de Cuidados à Pessoa com Deficiência)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74320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Modernização e Ampliação da RAPS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11879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Aproximação com SES-MG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480560"/>
            <a:ext cx="411480" cy="41148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5445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Amadurecimento das Relações Intersetoriais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10058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005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Ampliação das Ações em Rede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1874519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193852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das e-Multi/APS e e-ESF/APS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0" y="274320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28072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Apoio à estruturação de Políticas de Cuidado no Território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3611879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67588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11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Educação Permanente direcionada a Governança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448056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45445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Fortalecimento do Modelo Psicossocial de Atenção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Sistema de Classificação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Matriz de Cores para Priorização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371600" cy="6400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VERMELHO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344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Crise/Emergência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344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PS + CAPS + 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137160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LARANJA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116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CAPS II + 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37160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AMARELO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88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Moderado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CSM + 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371600" cy="6400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Baixo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APS + matriciamento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1371600" cy="640080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343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Crônico estável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43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APS longitudinal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097280"/>
            <a:ext cx="3228392" cy="2194560"/>
          </a:xfrm>
          <a:prstGeom prst="roundRect">
            <a:avLst/>
          </a:prstGeom>
          <a:solidFill>
            <a:srgbClr val="FFF5F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Critérios VERMELHO (Emergência)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3736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suicida agudo (plano + meios + intenção)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de agressão (auto ou hetero)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Sintomas psicóticos agudos com agitação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Risco de exposição moral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• → Ação: SAMU 192 imediato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Indicadores e Metas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Monitoramento Contínuo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876289"/>
              </p:ext>
            </p:extLst>
          </p:nvPr>
        </p:nvGraphicFramePr>
        <p:xfrm>
          <a:off x="609496" y="1184521"/>
          <a:ext cx="10973007" cy="4488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5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773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Indicador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Meta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/>
                        <a:t>Periodicidade</a:t>
                      </a:r>
                    </a:p>
                  </a:txBody>
                  <a:tcPr marL="99755" marR="99755" marT="49877" marB="49877"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Taxa de classificação de risco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PTS elaborado em ≤90 dias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Tempo médio de espera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≤3 dias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Reavaliação PTS no prazo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≥90%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Contrarreferência efetiva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100%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Taxa de abandono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≤15%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Cobertura M-CHAT (18-24m)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≥80%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Mensal</a:t>
                      </a:r>
                    </a:p>
                  </a:txBody>
                  <a:tcPr marL="99755" marR="99755" marT="49877" marB="49877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Diagnóstico TEA P1 em ≤30d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/>
                        <a:t>≥90%</a:t>
                      </a:r>
                    </a:p>
                  </a:txBody>
                  <a:tcPr marL="99755" marR="99755" marT="49877" marB="49877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sz="1200" dirty="0"/>
                        <a:t>Trimestral</a:t>
                      </a:r>
                    </a:p>
                  </a:txBody>
                  <a:tcPr marL="99755" marR="99755" marT="49877" marB="4987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2271" y="111503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Expansão</a:t>
            </a:r>
            <a:r>
              <a:rPr dirty="0"/>
              <a:t> da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271" y="48519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1º Semestre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5151" y="106742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9471" y="12045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CAPS-I → CAPS-II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9951" y="129602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Habilitação e ampliação de serviços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151" y="216470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9471" y="230186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Reforma CAPS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9951" y="239330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Adequação física e acessibilidade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151" y="3261980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9471" y="33991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Ampliação Centro Integrar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9951" y="34905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Expansão de capacidade (TEA/DI)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151" y="4359261"/>
            <a:ext cx="1097280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471" y="449642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59"/>
                </a:solidFill>
              </a:defRPr>
            </a:pPr>
            <a:r>
              <a:t>Inauguração CAPS-i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9951" y="458786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Infância e juventude - novo equipamento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151" y="5456542"/>
            <a:ext cx="10972800" cy="1097280"/>
          </a:xfrm>
          <a:prstGeom prst="roundRect">
            <a:avLst/>
          </a:prstGeom>
          <a:solidFill>
            <a:srgbClr val="FFFA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9471" y="563942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NOVO: CECO II (Portaria 5.738/2024)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471" y="600518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Dispositivo federal: baixo investimento, alto impacto. Custo de implantação coberto por portaria.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Compras e Licitações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Investimentos Planejados - Coordenações de Saúde 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Móveis para equipamentos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Eletroeletrônicos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construção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Sala Sensorial (Centro Integrar)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Testes Psicométricos (ADOS-2, ADI-R, CARS-2)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TVs para atendimento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Teleatendimento (parceria APS)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Veículos (CAPS-i)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Materiais de apoio (jogos educativos)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Equipamentos administrativos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0972800" cy="1097280"/>
          </a:xfrm>
          <a:prstGeom prst="roundRect">
            <a:avLst/>
          </a:prstGeom>
          <a:solidFill>
            <a:srgbClr val="FFF5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AÇÃO NECESSÁRIA: Aprovação orçamentária para processos licitatórios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Equipe CAPS-i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Cronograma de Implantação - Infância e Juventude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Seleção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Jan-Fev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Processo seletivo equipe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Contratação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Fev-Mar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Formalização de vínculos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Treinamento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Mar-Abr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Capacitação em neurodesenvolvimento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5544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A9"/>
                </a:solidFill>
              </a:defRPr>
            </a:pPr>
            <a:r>
              <a:t>Inauguração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A859"/>
                </a:solidFill>
              </a:defRPr>
            </a:pPr>
            <a:r>
              <a:t>Abr-Mai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Início das atividades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0972800" cy="1828800"/>
          </a:xfrm>
          <a:prstGeom prst="roundRect">
            <a:avLst/>
          </a:prstGeom>
          <a:solidFill>
            <a:srgbClr val="EBFFEB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Custeio Federal Mensal (Portaria 5.500/2024)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CAPS-i (Infantojuvenil): R$ 48.797/mês</a:t>
            </a:r>
          </a:p>
          <a:p>
            <a:pPr algn="ctr">
              <a:defRPr sz="1400">
                <a:solidFill>
                  <a:srgbClr val="646464"/>
                </a:solidFill>
              </a:defRPr>
            </a:pPr>
            <a:r>
              <a:t>Primeiro reajuste em 12 anos (+19,5%)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Educação Permanente Especializada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Neurodesenvolvimento e Governança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Contratação: Dr. Rubens 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Especialista em Neurodesenvolvimento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Capacitação das equipes RAPS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Supervisão clínica em TEA/DI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Formação de multiplicadores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5303520" cy="22860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Governança para Coordenações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Capacitação em planejamento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Estratégias de gestão local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Indicadores e monitoramento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Conselhos Gestores Locais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Programa Estruturado (8 Eixos Temáticos)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Depressão  |  Ansiedade/TOC  |  Psicoses  |  Uso de substâncias  |  Neurodesenvolvimento  |  Infância/adolescência  |  Crise/suicídio  |  Intersetorialidade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754880"/>
            <a:ext cx="6400800" cy="109728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493776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Meta: 40h/ano por profissional</a:t>
            </a:r>
          </a:p>
          <a:p>
            <a:pPr algn="ctr">
              <a:defRPr sz="1400">
                <a:solidFill>
                  <a:srgbClr val="DCFFDC"/>
                </a:solidFill>
              </a:defRPr>
            </a:pPr>
            <a:r>
              <a:t>~150 profissionais (RAPS + APS regional)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Integrações Estratégicas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Rede de Atenção e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Matriciamento 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Encontros sistemáticos APS ↔ CAPS ↔ CSM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Integração RUE/RAPS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Urgência/Emergência com fluxos 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Hospital São Lucas/RAPS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Capacitação e protocolos integrados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5CA9"/>
                </a:solidFill>
              </a:defRPr>
            </a:pPr>
            <a:r>
              <a:t>→ Teleconsulta 0800 644 6543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Suporte federal para casos complexos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097280"/>
            <a:ext cx="5303520" cy="2743200"/>
          </a:xfrm>
          <a:prstGeom prst="roundRect">
            <a:avLst/>
          </a:prstGeom>
          <a:solidFill>
            <a:srgbClr val="FFFAF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Eventos 1º Semestre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ABRIL: Mês do TEA/DI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391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Conscientização e inclusão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4086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Ações comunitárias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426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MAIO: Luta Antimanicomial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443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Destigmatização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   • Direitos em saúde mental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Governança Descentralizada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Estrutura de Gestão Participativa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Conselhos Gestores Locais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Meta: 100% dos equipamentos até 01/06/2026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Composição (Lei 8.142/1990):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10% Gestão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40% Trabalhadores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50% Usuários/Familiares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Deliberações sobre serviço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5303520" cy="32004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59"/>
                </a:solidFill>
              </a:defRPr>
            </a:pPr>
            <a:r>
              <a:t>Estrutura de Reuniões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Semanal: Coordenação Municipal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Segunda-feira, 16h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Casos, fluxos, 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Trimestral: Departamento (100%)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17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Indicadores e metas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 • Planejamento estratégico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 RAPS 1.0 →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Expansão Planejada 2025-2028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Dispositivos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Investimento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Fundação (diagnóstico, EP, protocolos)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II, CECO II, CAPS-i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R$ 30.000 + federal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AD 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R$ 50.000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UAA, LSMHG (4-8 leitos)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R$ 103.000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657600"/>
            <a:ext cx="10972800" cy="2286000"/>
          </a:xfrm>
          <a:prstGeom prst="roundRect">
            <a:avLst/>
          </a:prstGeom>
          <a:solidFill>
            <a:srgbClr val="EBF5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Visão RAPS 4.0 (2028)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CAPS II (qualificado) + CAPS-i (infância) + CAPS AD II (álcool/drogas)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CECO II + UAA (Unidade de Acolhimento Adulto)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Centro de Saúde Mental + Centro Integrar 4.0 (neurodivergências)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LSMHG (4-8 leitos em hospital geral) + Emergência capacitada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t>• eMulti APS matriciadora + Rede intersetorial articulada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Investimentos e Sustentabilidade Financeira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Portarias 5.500/2024 e 5.738/2024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137160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+19,5%</a:t>
            </a:r>
          </a:p>
          <a:p>
            <a:pPr algn="ctr">
              <a:defRPr sz="1400">
                <a:solidFill>
                  <a:srgbClr val="DCFFDC"/>
                </a:solidFill>
              </a:defRPr>
            </a:pPr>
            <a:r>
              <a:t>Primeiro reajuste em 12 anos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09728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Atualizado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I → 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R$ 33.086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R$ 50.257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CAPS-i (Infantojuvenil)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R$ 32.130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R$ 48.797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CAPS 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R$ 39.780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R$ 60.388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9600" y="3246120"/>
            <a:ext cx="10972800" cy="1371600"/>
          </a:xfrm>
          <a:prstGeom prst="roundRect">
            <a:avLst/>
          </a:prstGeom>
          <a:solidFill>
            <a:srgbClr val="F5FAFF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3920" y="3429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Investimento Total Estimado (2025-2028)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20" y="3886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CAPEX: ~R$ 213.000  |  OPEX Federal Adicional: ~R$ 500.000+/ano até 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Fase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" y="5074920"/>
            <a:ext cx="1115568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2026: CAPS I→II (R$ 30.000) + CECO II (federal)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2027: CAPS AD II (R$ 50.000) + CAPS-</a:t>
            </a:r>
            <a:r>
              <a:rPr dirty="0" err="1"/>
              <a:t>i</a:t>
            </a:r>
            <a:r>
              <a:rPr dirty="0"/>
              <a:t> (R$ 30.000)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</a:defRPr>
            </a:pPr>
            <a:r>
              <a:rPr dirty="0"/>
              <a:t>• 2028: UAA (R$ 70.000) + LSMHG (R$ 33.000)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*</a:t>
            </a:r>
            <a:r>
              <a:rPr lang="pt-BR" sz="1200" b="1" dirty="0"/>
              <a:t>CAPEX (Despesas de Capital) são investimentos de longo prazo em ativos (máquinas, imóveis, TI) para crescimento futuro, registrados no balanço e depreciados; </a:t>
            </a:r>
            <a:br>
              <a:rPr lang="pt-BR" sz="1200" b="1" dirty="0"/>
            </a:br>
            <a:r>
              <a:rPr lang="pt-BR" sz="1200" b="1" dirty="0"/>
              <a:t>*OPEX (Despesas Operacionais) são custos recorrentes do dia a dia (aluguel, salários, energia) para manter a empresa funcionando, deduzidos imediatamente no resultado.</a:t>
            </a: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Rede Intersetorial Formalizada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Articulação Ampliada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Educação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PSE, formação professores, PEI inclusivo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CRAS/CREAS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Proteção social, BPC, vulnerabilidade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39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Conselho Tutelar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Direitos, notificações, violência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09728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Esportes/Cultura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Inclusão comunitária, atividades adaptadas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94560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3º Setor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Associações, grupos de apoio, economia solidária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91839"/>
            <a:ext cx="5303520" cy="914400"/>
          </a:xfrm>
          <a:prstGeom prst="roundRect">
            <a:avLst/>
          </a:prstGeom>
          <a:solidFill>
            <a:srgbClr val="F0F0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38327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Justiça/MP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749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Internação involuntária, direito à saúde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0972800" cy="1463040"/>
          </a:xfrm>
          <a:prstGeom prst="roundRect">
            <a:avLst/>
          </a:prstGeom>
          <a:solidFill>
            <a:srgbClr val="FFFAEB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Comitê Gestor Intersetorial (permanente)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Representantes: Saúde Mental + Educação + CRAS/CREAS + Habitação + Desenvolvimento + Direitos Humanos + Esporte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Modelo APS-CSM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Princípios do Compartilhamento do Cuidado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Cuidado Integral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Abordagem biopsicossocial completa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Equidade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Acesso universal com priorização por necessidade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Compartilhamento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Não é encaminhamento, é cuidado conjunto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109728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11704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Coordenação 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A APS mantém a responsabilidade longitudinal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210312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1762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Matriciamento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688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Regulador de qualidade da rede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3108960"/>
            <a:ext cx="457200" cy="457200"/>
          </a:xfrm>
          <a:prstGeom prst="ellipse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318211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08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PTS Compartilhado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Ferramenta central de gestão do cuidado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Fluxo Operacional em 7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Jornada do Paciente no Compartilhamento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Entrada e Acolhimento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Qualquer porta de entrada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7099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Avaliação e-ESF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Exame mental, PHQ-9/GAD-7, classificação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35000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Revisão e-Multi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317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Validação, teleconsulta 0800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9008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Matriciamento Intra-APS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71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Discussão de equipe, PTS momentos 2-3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6301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Solicitação NIRSM-R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11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Se necessário, formulário padronizado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2702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Cuidado Compartilhado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519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CSM/CAPS, PTS continuidade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846320"/>
            <a:ext cx="411480" cy="4114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46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Alta/Reclassificação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892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Estabilização ≥3 meses, retorno APS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Critérios de Contrarreferência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Retorno Estruturado à 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Critério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Verificação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Estabilização sustentada ≥3 meses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CSM/CAPS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Prontuário + avaliação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Metas do PTS alcançadas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Equipe referência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Checklist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Classificação verde/azul atingida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Médico responsável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Reavaliação formal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Plano de seguimento APS definido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APS + 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Documento compartilhado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Família orientada sobre sinais de alerta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e-Multi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Registro + assinatura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F5FFF0"/>
          </a:solidFill>
          <a:ln>
            <a:solidFill>
              <a:srgbClr val="00A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59"/>
                </a:solidFill>
              </a:defRPr>
            </a:pPr>
            <a:r>
              <a:t>Princípio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A contrarreferência não é 'dar alta', é transferir a coordenação do cuidado de volta para a APS com plano estruturado.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Cronograma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Entregas do 1º Semestre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09/02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Calendário de Educação Permanente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15/02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Baseline PTS (levantamento)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Início Regula Raps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PTS obrigatório para todos usuários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15/03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Planejamento campanhas (Abril/Maio)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Abril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Campanha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Luta Antimanicomial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Planejado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Conselhos Gestores Locais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01/06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Capacitação em planejamento (100%)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DCFF"/>
                </a:solidFill>
              </a:defRPr>
            </a:pPr>
            <a:r>
              <a:t>Ações para Aprovação e Implementação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4572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Validação do cronograma de entregas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Secretária + Coordenações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Aprovação orçamentária (compras/licitações)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Diretora Administrativa/Finanças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Autorização para contratações (CAPS-i, Dr. Rubens)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Secretária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39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Definição de responsáveis por entrega (RACI)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918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Coordenações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59"/>
            <a:ext cx="36576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Agendamento de reuniões de monitoramento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5CA9"/>
                </a:solidFill>
              </a:defRPr>
            </a:pPr>
            <a:r>
              <a:t>→ Coordenação Municipal 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029200"/>
            <a:ext cx="8229600" cy="1188720"/>
          </a:xfrm>
          <a:prstGeom prst="round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52120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Aprovação Solicitada</a:t>
            </a:r>
          </a:p>
          <a:p>
            <a:pPr algn="ctr">
              <a:defRPr sz="1600">
                <a:solidFill>
                  <a:srgbClr val="DCFFDC"/>
                </a:solidFill>
              </a:defRPr>
            </a:pPr>
            <a:r>
              <a:t>PDSM Extrema 4.0 — Etapa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2148</Words>
  <Application>Microsoft Office PowerPoint</Application>
  <PresentationFormat>Widescreen</PresentationFormat>
  <Paragraphs>511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Caio Villani</cp:lastModifiedBy>
  <cp:revision>1</cp:revision>
  <dcterms:created xsi:type="dcterms:W3CDTF">2013-01-27T09:14:16Z</dcterms:created>
  <dcterms:modified xsi:type="dcterms:W3CDTF">2026-01-27T20:09:56Z</dcterms:modified>
  <cp:category/>
</cp:coreProperties>
</file>