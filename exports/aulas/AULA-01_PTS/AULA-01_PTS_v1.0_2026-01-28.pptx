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5CA9"/>
                </a:solidFill>
              </a:defRPr>
            </a:pPr>
            <a:r>
              <a:t>Projeto Terapêutico Singular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A859"/>
                </a:solidFill>
              </a:defRPr>
            </a:pPr>
            <a:r>
              <a:t>Uma ferramenta para organizar o cuidado na 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D3436"/>
                </a:solidFill>
              </a:defRPr>
            </a:pPr>
            <a:r>
              <a:t>Coordenação Municipal de Saúde Mental — Extrema/MG — Janeiro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5CA9"/>
                </a:solidFill>
              </a:defRPr>
            </a:pPr>
            <a:r>
              <a:t>Caso Clínico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7315200" cy="2743200"/>
          </a:xfrm>
          <a:prstGeom prst="roundRect">
            <a:avLst/>
          </a:prstGeom>
          <a:solidFill>
            <a:srgbClr val="F5F6F7"/>
          </a:solidFill>
          <a:ln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6766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200">
                <a:solidFill>
                  <a:srgbClr val="2D3436"/>
                </a:solidFill>
              </a:defRPr>
            </a:pPr>
            <a:r>
              <a:t>Dona Maria, 58 anos</a:t>
            </a:r>
            <a:br/>
            <a:r>
              <a:t>DM2 + HAS + "depressão"</a:t>
            </a:r>
            <a:br/>
            <a:r>
              <a:t>8 consultas no último ano</a:t>
            </a:r>
            <a:br/>
            <a:r>
              <a:t>Sem resolução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5CA9"/>
                </a:solidFill>
              </a:defRPr>
            </a:pPr>
            <a:r>
              <a:t>Reflexão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7315200" cy="2743200"/>
          </a:xfrm>
          <a:prstGeom prst="roundRect">
            <a:avLst/>
          </a:prstGeom>
          <a:solidFill>
            <a:srgbClr val="F5F6F7"/>
          </a:solidFill>
          <a:ln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6766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200">
                <a:solidFill>
                  <a:srgbClr val="2D3436"/>
                </a:solidFill>
              </a:defRPr>
            </a:pPr>
            <a:r>
              <a:t>Dona Maria, 58 anos</a:t>
            </a:r>
            <a:br/>
            <a:r>
              <a:t>DM2 + HAS + "depressão"</a:t>
            </a:r>
            <a:br/>
            <a:r>
              <a:t>8 consultas no último ano</a:t>
            </a:r>
            <a:br/>
            <a:r>
              <a:t>Sem resolução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A859"/>
                </a:solidFill>
              </a:defRPr>
            </a:pPr>
            <a:r>
              <a:t>Quantas "Donas Marias" vocês têm na agenda?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CA9"/>
                </a:solidFill>
              </a:defRPr>
            </a:pPr>
            <a:r>
              <a:t>O que é PTS?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D3436"/>
                </a:solidFill>
              </a:defRPr>
            </a:pPr>
            <a:r>
              <a:t>• Ferramenta de organização do cuidado</a:t>
            </a:r>
          </a:p>
          <a:p>
            <a:pPr>
              <a:spcAft>
                <a:spcPts val="1400"/>
              </a:spcAft>
              <a:defRPr sz="2200">
                <a:solidFill>
                  <a:srgbClr val="2D3436"/>
                </a:solidFill>
              </a:defRPr>
            </a:pPr>
            <a:r>
              <a:t>• Considera a singularidade de cada caso</a:t>
            </a:r>
          </a:p>
          <a:p>
            <a:pPr>
              <a:spcAft>
                <a:spcPts val="1400"/>
              </a:spcAft>
              <a:defRPr sz="2200">
                <a:solidFill>
                  <a:srgbClr val="2D3436"/>
                </a:solidFill>
              </a:defRPr>
            </a:pPr>
            <a:r>
              <a:t>• Construído COM o usuário, não PARA o usuário</a:t>
            </a:r>
          </a:p>
          <a:p>
            <a:pPr>
              <a:spcAft>
                <a:spcPts val="1400"/>
              </a:spcAft>
              <a:defRPr sz="2200">
                <a:solidFill>
                  <a:srgbClr val="2D3436"/>
                </a:solidFill>
              </a:defRPr>
            </a:pPr>
            <a:r>
              <a:t>• Atribui responsabilidades claras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CA9"/>
                </a:solidFill>
              </a:defRPr>
            </a:pPr>
            <a:r>
              <a:t>PTS ≠ Plano de Cuidados Genérico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48639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Plano Genérico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PTS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Padronizado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Singularizado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Feito pela equipe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Co-construído com usuário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Foco na doença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Foco na pessoa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Atribuições difusas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Responsabilidades claras</a:t>
                      </a:r>
                    </a:p>
                  </a:txBody>
                  <a:tcPr/>
                </a:tc>
              </a:tr>
              <a:tr h="54864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Revisão eventual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Reavaliação programada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CA9"/>
                </a:solidFill>
              </a:defRPr>
            </a:pPr>
            <a:r>
              <a:t>De onde vem o PTS?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D3436"/>
                </a:solidFill>
              </a:defRPr>
            </a:pPr>
            <a:r>
              <a:t>• Política Nacional de Humanização (PNH, 2004)</a:t>
            </a:r>
          </a:p>
          <a:p>
            <a:pPr>
              <a:spcAft>
                <a:spcPts val="1400"/>
              </a:spcAft>
              <a:defRPr sz="2200">
                <a:solidFill>
                  <a:srgbClr val="2D3436"/>
                </a:solidFill>
              </a:defRPr>
            </a:pPr>
            <a:r>
              <a:t>• Clínica Ampliada e Compartilhada</a:t>
            </a:r>
          </a:p>
          <a:p>
            <a:pPr>
              <a:spcAft>
                <a:spcPts val="1400"/>
              </a:spcAft>
              <a:defRPr sz="2200">
                <a:solidFill>
                  <a:srgbClr val="2D3436"/>
                </a:solidFill>
              </a:defRPr>
            </a:pPr>
            <a:r>
              <a:t>• Cadernos de Atenção Básica nº 34 (MS, 2013)</a:t>
            </a:r>
          </a:p>
          <a:p>
            <a:pPr>
              <a:spcAft>
                <a:spcPts val="1400"/>
              </a:spcAft>
              <a:defRPr sz="2200">
                <a:solidFill>
                  <a:srgbClr val="2D3436"/>
                </a:solidFill>
              </a:defRPr>
            </a:pPr>
            <a:r>
              <a:t>• Princípio: cuidado centrado na pessoa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CA9"/>
                </a:solidFill>
              </a:defRPr>
            </a:pPr>
            <a:r>
              <a:t>Quando elaborar PTS?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48639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Situação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Indicação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Transtorno mental grave e persistente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Obrigatório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Casos AMARELO ou superior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Obrigatório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Compartilhamento APS-AES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Obrigatório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Usuários do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Obrigatório</a:t>
                      </a:r>
                    </a:p>
                  </a:txBody>
                  <a:tcPr/>
                </a:tc>
              </a:tr>
              <a:tr h="54864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Alta complexidade biopsicossocial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Fortemente recomendado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5CA9"/>
                </a:solidFill>
              </a:defRPr>
            </a:pPr>
            <a:r>
              <a:t>Os 4 Momentos do 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7315200" cy="822960"/>
          </a:xfrm>
          <a:prstGeom prst="round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801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DIAGNÓSTICO INTEGRAL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6459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Bio + Psico + Social + Potencialidades</a:t>
            </a:r>
          </a:p>
        </p:txBody>
      </p:sp>
      <p:sp>
        <p:nvSpPr>
          <p:cNvPr id="8" name="Down Arrow 7"/>
          <p:cNvSpPr/>
          <p:nvPr/>
        </p:nvSpPr>
        <p:spPr>
          <a:xfrm>
            <a:off x="4389120" y="2057400"/>
            <a:ext cx="365760" cy="182879"/>
          </a:xfrm>
          <a:prstGeom prst="downArrow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286000"/>
            <a:ext cx="7315200" cy="822960"/>
          </a:xfrm>
          <a:prstGeom prst="round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2316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3774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DEFINIÇÃO DE METAS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7432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SMART — Com o usuário — 30d / 90d / &gt;90d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389120" y="3154679"/>
            <a:ext cx="365760" cy="182879"/>
          </a:xfrm>
          <a:prstGeom prst="downArrow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3383280"/>
            <a:ext cx="7315200" cy="822960"/>
          </a:xfrm>
          <a:prstGeom prst="round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52044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4747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DIVISÃO DE RESPONSABILIDADES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8404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Equipe + Usuário + Família + Rede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4389120" y="4251960"/>
            <a:ext cx="365760" cy="182879"/>
          </a:xfrm>
          <a:prstGeom prst="downArrow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4480559"/>
            <a:ext cx="7315200" cy="822960"/>
          </a:xfrm>
          <a:prstGeom prst="round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61772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571999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REAVALIAÇÃO PROGRAMADA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937759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Metas alcançadas? Ajustes? Reclassificação?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CA9"/>
                </a:solidFill>
              </a:defRPr>
            </a:pPr>
            <a:r>
              <a:t>Momento 1: Diagnóstico Integral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D3436"/>
                </a:solidFill>
              </a:defRPr>
            </a:pPr>
            <a:r>
              <a:t>• Vai além do CID-10</a:t>
            </a:r>
          </a:p>
          <a:p>
            <a:pPr>
              <a:spcAft>
                <a:spcPts val="1400"/>
              </a:spcAft>
              <a:defRPr sz="2200">
                <a:solidFill>
                  <a:srgbClr val="2D3436"/>
                </a:solidFill>
              </a:defRPr>
            </a:pPr>
            <a:r>
              <a:t>• Mapeia: vulnerabilidades + potencialidades</a:t>
            </a:r>
          </a:p>
          <a:p>
            <a:pPr>
              <a:spcAft>
                <a:spcPts val="1400"/>
              </a:spcAft>
              <a:defRPr sz="2200">
                <a:solidFill>
                  <a:srgbClr val="2D3436"/>
                </a:solidFill>
              </a:defRPr>
            </a:pPr>
            <a:r>
              <a:t>• Avaliação biopsicossocial completa</a:t>
            </a:r>
          </a:p>
          <a:p>
            <a:pPr>
              <a:spcAft>
                <a:spcPts val="1400"/>
              </a:spcAft>
              <a:defRPr sz="2200">
                <a:solidFill>
                  <a:srgbClr val="2D3436"/>
                </a:solidFill>
              </a:defRPr>
            </a:pPr>
            <a:r>
              <a:t>• Inclui: barreiras de acesso, rede de apoio, determinantes sociais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CA9"/>
                </a:solidFill>
              </a:defRPr>
            </a:pPr>
            <a:r>
              <a:t>Diagnóstico Integral — Dona Maria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Dimensão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Avaliação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Biológica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DM2 descompensada, HAS, insônia crônica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Psicológica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Humor deprimido, luto não elaborado, baixa autoestima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Social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Mora sozinha, filhos distantes, renda insuficiente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Potencialidades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Vínculo com ACS, participava de artesanato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CA9"/>
                </a:solidFill>
              </a:defRPr>
            </a:pPr>
            <a:r>
              <a:t>Momento 2: Definição de Metas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D3436"/>
                </a:solidFill>
              </a:defRPr>
            </a:pPr>
            <a:r>
              <a:t>• Metas SMART: Específicas, Mensuráveis, Alcançáveis, Relevantes, Temporais</a:t>
            </a:r>
          </a:p>
          <a:p>
            <a:pPr>
              <a:spcAft>
                <a:spcPts val="1400"/>
              </a:spcAft>
              <a:defRPr sz="2200">
                <a:solidFill>
                  <a:srgbClr val="2D3436"/>
                </a:solidFill>
              </a:defRPr>
            </a:pPr>
            <a:r>
              <a:t>• Negociadas COM o usuário — não impostas</a:t>
            </a:r>
          </a:p>
          <a:p>
            <a:pPr>
              <a:spcAft>
                <a:spcPts val="1400"/>
              </a:spcAft>
              <a:defRPr sz="2200">
                <a:solidFill>
                  <a:srgbClr val="2D3436"/>
                </a:solidFill>
              </a:defRPr>
            </a:pPr>
            <a:r>
              <a:t>• Horizonte: curto (30d), médio (90d), longo prazo (&gt;90d)</a:t>
            </a:r>
          </a:p>
          <a:p>
            <a:pPr>
              <a:spcAft>
                <a:spcPts val="1400"/>
              </a:spcAft>
              <a:defRPr sz="2200">
                <a:solidFill>
                  <a:srgbClr val="2D3436"/>
                </a:solidFill>
              </a:defRPr>
            </a:pPr>
            <a:r>
              <a:t>• Foco em funcionalidade e qualidade de vida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CA9"/>
                </a:solidFill>
              </a:defRPr>
            </a:pPr>
            <a:r>
              <a:t>Metas SMART — Dona Maria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Prazo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Meta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Indicador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30 dias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Retomar sono de 6h/noite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Autorrelato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30 dias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Rotina de café com vizinha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Confirmação ACS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90 dias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Retornar ao artesanato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Frequência ≥2x/mês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90 dias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HbA1c &lt; 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Exame laboratorial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CA9"/>
                </a:solidFill>
              </a:defRPr>
            </a:pPr>
            <a:r>
              <a:t>Momento 3: Divisão de Responsabilidades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D3436"/>
                </a:solidFill>
              </a:defRPr>
            </a:pPr>
            <a:r>
              <a:t>• QUEM faz O QUÊ, QUANDO</a:t>
            </a:r>
          </a:p>
          <a:p>
            <a:pPr>
              <a:spcAft>
                <a:spcPts val="1400"/>
              </a:spcAft>
              <a:defRPr sz="2200">
                <a:solidFill>
                  <a:srgbClr val="2D3436"/>
                </a:solidFill>
              </a:defRPr>
            </a:pPr>
            <a:r>
              <a:t>• Inclui: equipe + usuário + família + rede</a:t>
            </a:r>
          </a:p>
          <a:p>
            <a:pPr>
              <a:spcAft>
                <a:spcPts val="1400"/>
              </a:spcAft>
              <a:defRPr sz="2200">
                <a:solidFill>
                  <a:srgbClr val="2D3436"/>
                </a:solidFill>
              </a:defRPr>
            </a:pPr>
            <a:r>
              <a:t>• Define profissional de referência (gestor do caso)</a:t>
            </a:r>
          </a:p>
          <a:p>
            <a:pPr>
              <a:spcAft>
                <a:spcPts val="1400"/>
              </a:spcAft>
              <a:defRPr sz="2200">
                <a:solidFill>
                  <a:srgbClr val="2D3436"/>
                </a:solidFill>
              </a:defRPr>
            </a:pPr>
            <a:r>
              <a:t>• Evita: 'todo mundo cuida = ninguém cuida'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CA9"/>
                </a:solidFill>
              </a:defRPr>
            </a:pPr>
            <a:r>
              <a:t>Responsabilidades — Dona Maria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Ator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Ação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Frequência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Médico(a) de Família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Revisão medicamentosa + humor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Mensal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Enfermeiro(a)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Monitoramento DM/HAS + escuta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Quinzenal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ACS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Visita + monitoramento sono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Semanal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Psicólogo (eMulti)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Acompanhamento do luto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Quinzenal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Dona Maria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Caminhar 15min + registro alimentar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Diário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Vizinha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Café da manhã compartilhado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3436"/>
                          </a:solidFill>
                        </a:defRPr>
                      </a:pPr>
                      <a:r>
                        <a:t>3x/semana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CA9"/>
                </a:solidFill>
              </a:defRPr>
            </a:pPr>
            <a:r>
              <a:t>Profissional de Referência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D3436"/>
                </a:solidFill>
              </a:defRPr>
            </a:pPr>
            <a:r>
              <a:t>• É quem mantém o vínculo principal</a:t>
            </a:r>
          </a:p>
          <a:p>
            <a:pPr>
              <a:spcAft>
                <a:spcPts val="1400"/>
              </a:spcAft>
              <a:defRPr sz="2200">
                <a:solidFill>
                  <a:srgbClr val="2D3436"/>
                </a:solidFill>
              </a:defRPr>
            </a:pPr>
            <a:r>
              <a:t>• Coordena o PTS (não faz tudo sozinho)</a:t>
            </a:r>
          </a:p>
          <a:p>
            <a:pPr>
              <a:spcAft>
                <a:spcPts val="1400"/>
              </a:spcAft>
              <a:defRPr sz="2200">
                <a:solidFill>
                  <a:srgbClr val="2D3436"/>
                </a:solidFill>
              </a:defRPr>
            </a:pPr>
            <a:r>
              <a:t>• Geralmente: médico ou enfermeiro da ESF</a:t>
            </a:r>
          </a:p>
          <a:p>
            <a:pPr>
              <a:spcAft>
                <a:spcPts val="1400"/>
              </a:spcAft>
              <a:defRPr sz="2200">
                <a:solidFill>
                  <a:srgbClr val="2D3436"/>
                </a:solidFill>
              </a:defRPr>
            </a:pPr>
            <a:r>
              <a:t>• Vocês são os melhores candidatos — conhecem o território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CA9"/>
                </a:solidFill>
              </a:defRPr>
            </a:pPr>
            <a:r>
              <a:t>Momento 4: Reavaliação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D3436"/>
                </a:solidFill>
              </a:defRPr>
            </a:pPr>
            <a:r>
              <a:t>• PTS é documento VIVO, não estático</a:t>
            </a:r>
          </a:p>
          <a:p>
            <a:pPr>
              <a:spcAft>
                <a:spcPts val="1400"/>
              </a:spcAft>
              <a:defRPr sz="2200">
                <a:solidFill>
                  <a:srgbClr val="2D3436"/>
                </a:solidFill>
              </a:defRPr>
            </a:pPr>
            <a:r>
              <a:t>• Reavaliação programada (não apenas 'se der tempo')</a:t>
            </a:r>
          </a:p>
          <a:p>
            <a:pPr>
              <a:spcAft>
                <a:spcPts val="1400"/>
              </a:spcAft>
              <a:defRPr sz="2200">
                <a:solidFill>
                  <a:srgbClr val="2D3436"/>
                </a:solidFill>
              </a:defRPr>
            </a:pPr>
            <a:r>
              <a:t>• Avalia: metas alcançadas? ajustes? reclassificação?</a:t>
            </a:r>
          </a:p>
          <a:p>
            <a:pPr>
              <a:spcAft>
                <a:spcPts val="1400"/>
              </a:spcAft>
              <a:defRPr sz="2200">
                <a:solidFill>
                  <a:srgbClr val="2D3436"/>
                </a:solidFill>
              </a:defRPr>
            </a:pPr>
            <a:r>
              <a:t>• Pode resultar em: manutenção, intensificação ou alta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5CA9"/>
                </a:solidFill>
              </a:defRPr>
            </a:pPr>
            <a:r>
              <a:t>Exercício Guiado — Caso Sr. João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7315200" cy="2743200"/>
          </a:xfrm>
          <a:prstGeom prst="roundRect">
            <a:avLst/>
          </a:prstGeom>
          <a:solidFill>
            <a:srgbClr val="F5F6F7"/>
          </a:solidFill>
          <a:ln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6766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200">
                <a:solidFill>
                  <a:srgbClr val="2D3436"/>
                </a:solidFill>
              </a:defRPr>
            </a:pPr>
            <a:r>
              <a:t>Sr. João, 45 anos</a:t>
            </a:r>
            <a:br/>
            <a:r>
              <a:t>HAS + Uso problemático de álcool</a:t>
            </a:r>
            <a:br/>
            <a:r>
              <a:t>Desempregado há 8 meses</a:t>
            </a:r>
            <a:br/>
            <a:r>
              <a:t>Mora com esposa e 2 filhos adolescentes</a:t>
            </a:r>
            <a:br/>
            <a:r>
              <a:t>Última consulta: "veio só buscar receita de losartana"</a:t>
            </a:r>
            <a:br/>
            <a:r>
              <a:t>ACS relata: "Vizinhos comentam que ele bebe todo dia"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CA9"/>
                </a:solidFill>
              </a:defRPr>
            </a:pPr>
            <a:r>
              <a:t>Tarefa (em duplas, 8 minutos)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D3436"/>
                </a:solidFill>
              </a:defRPr>
            </a:pPr>
            <a:r>
              <a:t>• 1. Faça o diagnóstico integral (biopsicossocial)</a:t>
            </a:r>
          </a:p>
          <a:p>
            <a:pPr>
              <a:spcAft>
                <a:spcPts val="1400"/>
              </a:spcAft>
              <a:defRPr sz="2200">
                <a:solidFill>
                  <a:srgbClr val="2D3436"/>
                </a:solidFill>
              </a:defRPr>
            </a:pPr>
            <a:r>
              <a:t>• 2. Proponha 2 metas SMART (1 curto, 1 médio prazo)</a:t>
            </a:r>
          </a:p>
          <a:p>
            <a:pPr>
              <a:spcAft>
                <a:spcPts val="1400"/>
              </a:spcAft>
              <a:defRPr sz="2200">
                <a:solidFill>
                  <a:srgbClr val="2D3436"/>
                </a:solidFill>
              </a:defRPr>
            </a:pPr>
            <a:r>
              <a:t>• 3. Defina 3 responsabilidades (equipe + João + família)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5CA9"/>
                </a:solidFill>
              </a:defRPr>
            </a:pPr>
            <a:r>
              <a:t>Síntese: Fluxo 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7315200" cy="822960"/>
          </a:xfrm>
          <a:prstGeom prst="round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801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CASO COMPLEXO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6459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Múltiplas consultas sem resolução</a:t>
            </a:r>
          </a:p>
        </p:txBody>
      </p:sp>
      <p:sp>
        <p:nvSpPr>
          <p:cNvPr id="8" name="Down Arrow 7"/>
          <p:cNvSpPr/>
          <p:nvPr/>
        </p:nvSpPr>
        <p:spPr>
          <a:xfrm>
            <a:off x="4389120" y="2057400"/>
            <a:ext cx="365760" cy="182879"/>
          </a:xfrm>
          <a:prstGeom prst="downArrow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286000"/>
            <a:ext cx="7315200" cy="822960"/>
          </a:xfrm>
          <a:prstGeom prst="round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2316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3774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DIAGNÓSTICO INTEGRAL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7432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Bio + Psico + Social + Potencialidades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389120" y="3154679"/>
            <a:ext cx="365760" cy="182879"/>
          </a:xfrm>
          <a:prstGeom prst="downArrow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3383280"/>
            <a:ext cx="7315200" cy="822960"/>
          </a:xfrm>
          <a:prstGeom prst="round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52044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4747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METAS SMART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8404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Negociadas com usuário — 30/90/&gt;90 dias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4389120" y="4251960"/>
            <a:ext cx="365760" cy="182879"/>
          </a:xfrm>
          <a:prstGeom prst="downArrow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4480559"/>
            <a:ext cx="7315200" cy="822960"/>
          </a:xfrm>
          <a:prstGeom prst="round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61772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571999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RESPONSABILIDADES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937759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Quem faz o quê, quando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4389120" y="5349240"/>
            <a:ext cx="365760" cy="182879"/>
          </a:xfrm>
          <a:prstGeom prst="downArrow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" y="5577840"/>
            <a:ext cx="7315200" cy="822960"/>
          </a:xfrm>
          <a:prstGeom prst="round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71500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669279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REAVALIAÇÃO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60350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Metas alcançadas? Ajustes? Alta?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CA9"/>
                </a:solidFill>
              </a:defRPr>
            </a:pPr>
            <a:r>
              <a:t>Checklist: Quando elaborar PTS?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2004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D3436"/>
                </a:solidFill>
              </a:defRPr>
            </a:pPr>
            <a:r>
              <a:t>Este caso já consumiu múltiplas consultas sem resolução?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2004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D3436"/>
                </a:solidFill>
              </a:defRPr>
            </a:pPr>
            <a:r>
              <a:t>Há complexidade biopsicossocial evidente?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32004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D3436"/>
                </a:solidFill>
              </a:defRPr>
            </a:pPr>
            <a:r>
              <a:t>O usuário/família pode participar da construção?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91840"/>
            <a:ext cx="32004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291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D3436"/>
                </a:solidFill>
              </a:defRPr>
            </a:pPr>
            <a:r>
              <a:t>Tenho equipe mínima para dividir responsabilidades?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31920"/>
            <a:ext cx="32004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931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D3436"/>
                </a:solidFill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640080" y="4572000"/>
            <a:ext cx="32004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D3436"/>
                </a:solidFill>
              </a:defRPr>
            </a:pPr>
            <a:r>
              <a:t>Se SIM para 3 ou mais → considere PTS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CA9"/>
                </a:solidFill>
              </a:defRPr>
            </a:pPr>
            <a:r>
              <a:t>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A859"/>
                </a:solidFill>
              </a:defRPr>
            </a:pPr>
            <a:r>
              <a:t>Esta semana: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</a:defRPr>
            </a:pPr>
            <a:r>
              <a:t>• Identifique 1 caso "Dona Maria" na sua agenda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</a:defRPr>
            </a:pPr>
            <a:r>
              <a:t>• Aplique os 4 momentos mentalmente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</a:defRPr>
            </a:pPr>
            <a:r>
              <a:t>• Traga dúvidas para o próximo encontro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5CA9"/>
                </a:solidFill>
              </a:defRPr>
            </a:pPr>
            <a:r>
              <a:t>Recursos disponíveis: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</a:defRPr>
            </a:pPr>
            <a:r>
              <a:t>• Template PTS simplificado (F-02)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</a:defRPr>
            </a:pPr>
            <a:r>
              <a:t>• Contato da Coordenação de SM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</a:defRPr>
            </a:pPr>
            <a:r>
              <a:t>• Matriciamento mensal com eMulti/NIRSM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A859"/>
                </a:solidFill>
              </a:defRPr>
            </a:pPr>
            <a:r>
              <a:t>Obrigado! Dúvidas: Coordenação de Saúde Mental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