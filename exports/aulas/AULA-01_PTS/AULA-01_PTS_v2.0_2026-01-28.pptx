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pausadamente. Enfatizar '8 consultas' e 'sem resolução'. PHQ-9 de 14 = depressão moderada. CuidaSM Nível 3 = PTS obrigatório.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Deixar 30 segundos de silêncio. Aguardar respostas. Validar: 'Todo mundo tem uma Dona Maria'.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 empático. Reconhecer a realidade da 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Enfatizar: não é mais um papel para preencher. É uma lógica de organização.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PTS complementa para casos complexos.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Destaque: 'todo mundo cuida = ninguém cuida'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é diretriz oficial, não modismo.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 Maria: CuidaSM Nível 3 = PTS obrigatório.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Isso é mudança de paradigma. Vamos ver o caso Lucas.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Nem todo PTS precisa ser extenso.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São 4 momentos que formam um ciclo. As cores ajudam a identificar cada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MFC já faz isso intuitivamente. PTS sistematiza.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Lucas ilustra PTS Preliminar. Intervenção não espera diagnóstico.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é 'paciente difícil' — é pessoa com múltiplas vulnerabilidades.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Pausa de 2 minutos para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 não é 'controlar diabetes'. É algo que faça sentido para 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Carla ilustra compartilhamento APS-CAPS e evolução com escores.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Metas sociais junto com metas clínicas. Negociadas com 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1 minuto real para as duplas. Colher 2-3 respostas.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coração do PTS. Sem isso, vira boa intenção.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Profissional de Referência: ACS Maria (melhor vínculo).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PTS é pacto, não prescrição. Ela também tem responsabilidades.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metas não estão sendo alcançadas, o que precisa mudar no PTS?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Antônio é exemplo de ciclo completo. Entrou amarelo, saiu azul.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há resposta única — depende da avaliação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18 = uso nocivo. PHQ-9 11 = depressão moderada (comorbidade comum).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Circular entre duplas. Aviso aos 5 e 8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Validar contribuições. Corrigir gentilmente equívocos.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Handout impresso disponível.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Indicadores que vamos acompanhar no município.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acertaram 3+, o objetivo da aula foi alcançado.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Compromisso concreto. Não deixar abstrato.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Referências em formato Vancouver.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Projeto Terapêutico Singular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Uma ferramenta para organizar o cuidado na 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Coordenação Municipal de Saúde Mental</a:t>
            </a:r>
            <a:br/>
            <a:r>
              <a:t>Extrema/MG — Janeiro 2026 |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Caso Clínico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4114800"/>
          </a:xfrm>
          <a:prstGeom prst="roundRect">
            <a:avLst/>
          </a:prstGeom>
          <a:solidFill>
            <a:srgbClr val="F5F6F7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Dona Maria, 58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D3436"/>
                </a:solidFill>
              </a:defRPr>
            </a:pPr>
            <a:r>
              <a:t>DM2 + HAS há 15 anos</a:t>
            </a:r>
            <a:br/>
            <a:r>
              <a:t>"Depressão" há 3 anos</a:t>
            </a:r>
            <a:br/>
            <a:r>
              <a:t>8 consultas no último ano</a:t>
            </a:r>
            <a:br/>
            <a:r>
              <a:t>Queixa: "dor no corpo", "não consigo dormir"</a:t>
            </a:r>
            <a:br/>
            <a:r>
              <a:t>Exames: normais</a:t>
            </a:r>
            <a:br/>
            <a:r>
              <a:t>Sem resolução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786384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Escores: PHQ-9: 14 (moderada) | CuidaSM: Nível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754880"/>
            <a:ext cx="3657600" cy="4572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80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AMARELO - Moderado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Quantas "Donas Marias"</a:t>
            </a:r>
            <a:br/>
            <a:r>
              <a:t>vocês têm na agenda?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Casos que consomem múltiplas consultas sem resolução aparente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Casos assim geram frustração</a:t>
            </a:r>
            <a:br/>
            <a:r>
              <a:t>— pra gente e pro paciente.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O que vamos ver hoje é uma ferramenta que não resolve tudo,</a:t>
            </a:r>
            <a:br/>
            <a:r>
              <a:t>mas estrutura o cuidado.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CA9"/>
                </a:solidFill>
              </a:defRPr>
            </a:pPr>
            <a:r>
              <a:t>O que é PTS?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Ferramenta de organização do cuidado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Considera a singularidade de cada caso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Construído COM o usuário, não PARA o usuário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Atribui responsabilidades claras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PTS ≠ Plano de Cuidados Genérico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Plano Genérico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PTS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Padronizado por condição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Singularizado por pessoa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Feito pela equipe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Co-construído com usuário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Foco na doença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Foco na pessoa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PTS ≠ Plano de Cuidados Genérico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Plano Genérico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PTS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Responsabilidades difusas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Matriz clara de quem faz o quê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Revisão eventual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Reavaliação programada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Usuário passivo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Usuário corresponsável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CA9"/>
                </a:solidFill>
              </a:defRPr>
            </a:pPr>
            <a:r>
              <a:t>De onde vem o PTS?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Política Nacional de Humanização (PNH, 2004)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Conceito de Clínica Ampliada e Compartilhada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Cadernos de Atenção Básica nº 34 — Saúde Mental (MS, 2013)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Linha de Cuidado TEA — MS Brasil 2025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Princípio: cuidado centrado na pessoa, não na doença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A859"/>
                </a:solidFill>
              </a:defRPr>
            </a:pPr>
            <a:r>
              <a:t>Quando elaborar PTS? + CuidaSM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Nível CuidaSM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Pontuação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PTS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Nível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Opcional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Nível 2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2-3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Recomendado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Nível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4-6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OBRIGATÓRIO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Nível 4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7-11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OBRIGATÓRIO + CAPS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7C00"/>
                </a:solidFill>
              </a:defRPr>
            </a:pPr>
            <a:r>
              <a:t>PTS Preliminar — Inovação MS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Elaborado ANTES da confirmação diagnóstica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Especialmente para TEA/DI na infância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Base científica: janela de neuroplasticidade 0-3 anos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Cada mês de espera é uma oportunidade perdida</a:t>
            </a:r>
          </a:p>
          <a:p>
            <a:pPr>
              <a:spcAft>
                <a:spcPts val="1200"/>
              </a:spcAft>
              <a:defRPr sz="1600" b="0">
                <a:solidFill>
                  <a:srgbClr val="2D3436"/>
                </a:solidFill>
              </a:defRPr>
            </a:pPr>
            <a:r>
              <a:t>"A intervenção deve iniciar-se ANTES do diagnóstico formal" — MS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PTS Simplificado vs Completo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Simplificado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Completo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Indicação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Verde/Azul, TMC leve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Amarelo+, TMG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Diagnóstico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Breve (1 página)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Biopsicossocial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Metas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1-2 prioritárias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3-5 com prazos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Reavaliação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30-60 dias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Conforme complexidade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CA9"/>
                </a:solidFill>
              </a:defRPr>
            </a:pPr>
            <a:r>
              <a:t>Os 4 Momentos do 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93192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0" y="1554480"/>
            <a:ext cx="731520" cy="73152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5CA9"/>
                </a:solidFill>
              </a:defRPr>
            </a:pPr>
            <a:r>
              <a:t>Diagnóstico Integral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36E72"/>
                </a:solidFill>
              </a:defRPr>
            </a:pPr>
            <a:r>
              <a:t>Bio + Psico + Social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93192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26480" y="1554480"/>
            <a:ext cx="731520" cy="73152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A859"/>
                </a:solidFill>
              </a:defRPr>
            </a:pPr>
            <a:r>
              <a:t>Definição de Metas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36E72"/>
                </a:solidFill>
              </a:defRPr>
            </a:pPr>
            <a:r>
              <a:t>SMART — com o usuário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393192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11680" y="3657600"/>
            <a:ext cx="731520" cy="73152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3749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7C00"/>
                </a:solidFill>
              </a:defRPr>
            </a:pPr>
            <a:r>
              <a:t>Responsabilidades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36E72"/>
                </a:solidFill>
              </a:defRPr>
            </a:pPr>
            <a:r>
              <a:t>Quem faz o quê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474720"/>
            <a:ext cx="393192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0" y="3657600"/>
            <a:ext cx="731520" cy="73152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749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4805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B1FA2"/>
                </a:solidFill>
              </a:defRPr>
            </a:pPr>
            <a:r>
              <a:t>Reavaliação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8463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36E72"/>
                </a:solidFill>
              </a:defRPr>
            </a:pPr>
            <a:r>
              <a:t>Documento vivo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CA9"/>
                </a:solidFill>
              </a:defRPr>
            </a:pPr>
            <a:r>
              <a:t>① Diagnóstico Integral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Vai além do CID-10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Mapeia: vulnerabilidades + potencialidades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Avaliação biopsicossocial completa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Inclui: barreiras de acesso, rede de apoio</a:t>
            </a:r>
          </a:p>
          <a:p>
            <a:pPr>
              <a:spcAft>
                <a:spcPts val="1200"/>
              </a:spcAft>
              <a:defRPr sz="1800" b="1">
                <a:solidFill>
                  <a:srgbClr val="2D3436"/>
                </a:solidFill>
              </a:defRPr>
            </a:pPr>
            <a:r>
              <a:t>Não é diagnóstico médico — é diagnóstico SITUACIONAL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Caso Clínico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4114800"/>
          </a:xfrm>
          <a:prstGeom prst="roundRect">
            <a:avLst/>
          </a:prstGeom>
          <a:solidFill>
            <a:srgbClr val="F5F6F7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Lucas, 8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D3436"/>
                </a:solidFill>
              </a:defRPr>
            </a:pPr>
            <a:r>
              <a:t>Suspeita de TEA + sintomas TDAH</a:t>
            </a:r>
            <a:br/>
            <a:r>
              <a:t>M-CHAT-R/F positivo aos 24 meses (5/20)</a:t>
            </a:r>
            <a:br/>
            <a:r>
              <a:t>Primeiras palavras: 30 meses (atraso)</a:t>
            </a:r>
            <a:br/>
            <a:r>
              <a:t>Escola: rendimento OK, isolamento social</a:t>
            </a:r>
            <a:br/>
            <a:r>
              <a:t>Hipersensibilidade auditiva</a:t>
            </a:r>
            <a:br/>
            <a:r>
              <a:t>Interesse restrito: trens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786384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Escores: IRDI: 4 indicadores ausentes | CARS-2: Pendente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754880"/>
            <a:ext cx="3657600" cy="4572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80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LARANJA - P2 (90 dias) - PTS PRELIMINAR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Diagnóstico Integral — Dona Maria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Dimensão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Avaliação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Biológica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DM2 descompensada, HAS, insônia, PHQ-9: 14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Psicológica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Humor deprimido, luto não elaborado, baixa autoestima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Mora sozinha, filhos distantes, renda insuficiente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Potencialidades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Vínculo com ACS, artesanato, boa adesão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7C00"/>
                </a:solidFill>
              </a:defRPr>
            </a:pPr>
            <a:r>
              <a:t>🤔 O que você faria?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436"/>
                </a:solidFill>
              </a:defRPr>
            </a:pPr>
            <a:r>
              <a:t>Paciente 45 anos, DM2 controlada, cansaço e desânimo há 2 meses. Primeira consulta. PHQ-9: 8 (leve)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A) Elaborar PTS completo imediatamente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B) Solicitar exames e reavaliar em 2 semanas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C) Encaminhar ao CAPS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D) Aplicar CuidaSM e decidir baseado no nível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8229600" cy="109728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Resposta: D — PHQ-9 de 8 é depressão leve. CuidaSM determinará necessidade.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859"/>
                </a:solidFill>
              </a:defRPr>
            </a:pPr>
            <a:r>
              <a:t>② Definição de Metas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Metas SMART: Específicas, Mensuráveis, Alcançáveis, Relevantes, Temporais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Negociadas COM o usuário — não impostas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Horizonte: 30d (curto) / 90d (médio) / &gt;90d (longo)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Foco em funcionalidade e qualidade de vida</a:t>
            </a:r>
          </a:p>
          <a:p>
            <a:pPr>
              <a:spcAft>
                <a:spcPts val="1200"/>
              </a:spcAft>
              <a:defRPr sz="1600" b="0">
                <a:solidFill>
                  <a:srgbClr val="2D3436"/>
                </a:solidFill>
              </a:defRPr>
            </a:pPr>
            <a:r>
              <a:t>❌ "Melhorar a depressão" → ✓ "PHQ-9 &lt; 10 em 90 dias"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Caso Clínico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4114800"/>
          </a:xfrm>
          <a:prstGeom prst="roundRect">
            <a:avLst/>
          </a:prstGeom>
          <a:solidFill>
            <a:srgbClr val="F5F6F7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Carla, 32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D3436"/>
                </a:solidFill>
              </a:defRPr>
            </a:pPr>
            <a:r>
              <a:t>Depressão Maior (F32.2) + Ansiedade (F41.1)</a:t>
            </a:r>
            <a:br/>
            <a:r>
              <a:t>3 meses de acompanhamento compartilhado APS-CAPS</a:t>
            </a:r>
            <a:br/>
            <a:r>
              <a:t>Medicação: Sertralina 100mg</a:t>
            </a:r>
            <a:br/>
            <a:r>
              <a:t>Psicologia e-Multi: 8 sessões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786384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Escores: PHQ-9: 18→9 | GAD-7: 14→6 | CuidaSM: 3→2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754880"/>
            <a:ext cx="3657600" cy="4572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80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AMARELO → trajetória para VERDE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A859"/>
                </a:solidFill>
              </a:defRPr>
            </a:pPr>
            <a:r>
              <a:t>Metas — Dona Maria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Indicador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30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Retomar sono de 6h/noite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Autorrelato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30 dias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Café da manhã com vizinha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Confirmação ACS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90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Retornar ao artesanato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Frequência ≥2x/mês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90 dias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PHQ-9 &lt; 10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Aplicação em consulta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7C00"/>
                </a:solidFill>
              </a:defRPr>
            </a:pPr>
            <a:r>
              <a:t>✏️ Transforme em SMART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436"/>
                </a:solidFill>
              </a:defRPr>
            </a:pPr>
            <a:r>
              <a:t>Meta original: "Melhorar o sono da Dona Maria"</a:t>
            </a:r>
            <a:br/>
            <a:br/>
            <a:r>
              <a:t>Em duplas (1 minuto): Reformulem usando critérios SMART.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8229600" cy="109728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Resposta: "Retomar sono de 6h contínuas, verificado por autorrelato e vizinha, em 30 dias"</a:t>
            </a:r>
            <a:br/>
            <a:r>
              <a:t>S: 6h contínuas | M: autorrelato + vizinha | A: realista | R: central | T: 30 dias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7C00"/>
                </a:solidFill>
              </a:defRPr>
            </a:pPr>
            <a:r>
              <a:t>③ Divisão de Responsabilidades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QUEM faz O QUÊ, QUANDO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Inclui: equipe + usuário + família + rede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Define profissional de referência (gestor do caso)</a:t>
            </a:r>
          </a:p>
          <a:p>
            <a:pPr>
              <a:spcAft>
                <a:spcPts val="1200"/>
              </a:spcAft>
              <a:defRPr sz="2000" b="1">
                <a:solidFill>
                  <a:srgbClr val="2D3436"/>
                </a:solidFill>
              </a:defRPr>
            </a:pPr>
            <a:r>
              <a:t>Evita: "todo mundo cuida = ninguém cuida"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7C00"/>
                </a:solidFill>
              </a:defRPr>
            </a:pPr>
            <a:r>
              <a:t>Responsabilidades — Equipe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Ator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Ação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Frequência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Médico(a)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Revisão medicamentosa + PHQ-9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Mensal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Enfermeiro(a)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Monitoramento DM/HAS + escuta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Quinzenal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ACS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Visita + monitorar sono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Semanal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Psicólogo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Acompanhamento luto (6 sessões)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Quinzenal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7C00"/>
                </a:solidFill>
              </a:defRPr>
            </a:pPr>
            <a:r>
              <a:t>Responsabilidades — Usuário + Rede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Ator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Ação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Frequência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Dona 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Caminhar 15min/dia + alimentação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Diário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Vizinha Joana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Café da manhã compartilhado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3x/semana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Grupo Igreja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Acolher no retorno ao artesanato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Conforme agenda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7B1FA2"/>
                </a:solidFill>
              </a:defRPr>
            </a:pPr>
            <a:r>
              <a:t>④ Reavaliação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PTS é documento VIVO, não estático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Reavaliação PROGRAMADA (não "se der tempo")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Avalia: metas alcançadas? ajustes? reclassificar risco?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Critérios: data programada, mudança significativa, meta atingida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Caso Clínico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4114800"/>
          </a:xfrm>
          <a:prstGeom prst="roundRect">
            <a:avLst/>
          </a:prstGeom>
          <a:solidFill>
            <a:srgbClr val="F5F6F7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Seu Antônio, 68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D3436"/>
                </a:solidFill>
              </a:defRPr>
            </a:pPr>
            <a:r>
              <a:t>Transtorno de Ajustamento (F43.21) pós-aposentadoria</a:t>
            </a:r>
            <a:br/>
            <a:r>
              <a:t>Duração do PTS: 6 meses</a:t>
            </a:r>
            <a:br/>
            <a:r>
              <a:t>3 reavaliações completadas</a:t>
            </a:r>
            <a:br/>
            <a:br/>
            <a:r>
              <a:t>✓ 3+ meses sem crise</a:t>
            </a:r>
            <a:br/>
            <a:r>
              <a:t>✓ Metas alcançadas</a:t>
            </a:r>
            <a:br/>
            <a:r>
              <a:t>✓ Rede ativada</a:t>
            </a:r>
            <a:br/>
            <a:r>
              <a:t>✓ Adesão demonstrada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786384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Escores: PHQ-9: 12 → 3 (moderada → mínima)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754880"/>
            <a:ext cx="3657600" cy="4572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80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AMARELO → AZUL (alta bem-sucedida)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7C00"/>
                </a:solidFill>
              </a:defRPr>
            </a:pPr>
            <a:r>
              <a:t>🔄 Reclassificar ou Manter?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436"/>
                </a:solidFill>
              </a:defRPr>
            </a:pPr>
            <a:r>
              <a:t>Cenário Carla (90 dias):</a:t>
            </a:r>
            <a:br/>
            <a:r>
              <a:t>• PHQ-9: 18 → 9 (melhora 50%)</a:t>
            </a:r>
            <a:br/>
            <a:r>
              <a:t>• GAD-7: 14 → 6 (melhora 57%)</a:t>
            </a:r>
            <a:br/>
            <a:r>
              <a:t>• Metas: 2/3 alcançadas, 1 parcial</a:t>
            </a:r>
            <a:br/>
            <a:r>
              <a:t>• Boa adesão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Carla deve ser reclassificada de AMARELO para VERDE?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8229600" cy="109728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Resposta: Discussão: Considerar estabilidade dos ganhos, risco de recaída, suporte social. Reclassificação é evidência de efetividade.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Caso Clínico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4114800"/>
          </a:xfrm>
          <a:prstGeom prst="roundRect">
            <a:avLst/>
          </a:prstGeom>
          <a:solidFill>
            <a:srgbClr val="F5F6F7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Sr. João, 45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D3436"/>
                </a:solidFill>
              </a:defRPr>
            </a:pPr>
            <a:r>
              <a:t>HAS mal controlada</a:t>
            </a:r>
            <a:br/>
            <a:r>
              <a:t>Uso problemático de álcool</a:t>
            </a:r>
            <a:br/>
            <a:r>
              <a:t>Desempregado há 8 meses</a:t>
            </a:r>
            <a:br/>
            <a:r>
              <a:t>Mora com esposa e 2 filhos adolescentes</a:t>
            </a:r>
            <a:br/>
            <a:r>
              <a:t>"Veio só buscar receita de losartana"</a:t>
            </a:r>
            <a:br/>
            <a:r>
              <a:t>ACS: "vizinhos dizem que ele bebe todo dia"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786384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Escores: AUDIT: 18 (uso nocivo) | PHQ-9: 11 (moderada)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754880"/>
            <a:ext cx="3657600" cy="4572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80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D3436"/>
                </a:solidFill>
              </a:defRPr>
            </a:pPr>
            <a:r>
              <a:t>AMARELO - PTS Obrigatório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CA9"/>
                </a:solidFill>
              </a:defRPr>
            </a:pPr>
            <a:r>
              <a:t>Tarefa — 10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☐ Faça o diagnóstico integral (biopsicossocial)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☐ Proponha 2 metas SMART (1 curto, 1 médio prazo)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☐ Defina 3 responsabilidades (equipe + João + família)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 b="1">
                <a:solidFill>
                  <a:srgbClr val="2D3436"/>
                </a:solidFill>
              </a:defRPr>
            </a:pPr>
            <a:r>
              <a:t>Lembrem: meta pode ser REDUÇÃO DE DANOS, não abstinência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CA9"/>
                </a:solidFill>
              </a:defRPr>
            </a:pPr>
            <a:r>
              <a:t>Plenária — 3 duplas (2 min cada)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"E se não quiser parar de beber?"</a:t>
            </a:r>
          </a:p>
          <a:p>
            <a:pPr>
              <a:spcAft>
                <a:spcPts val="1200"/>
              </a:spcAft>
              <a:defRPr sz="1600" b="0">
                <a:solidFill>
                  <a:srgbClr val="2D3436"/>
                </a:solidFill>
              </a:defRPr>
            </a:pPr>
            <a:r>
              <a:t>→ Meta pode ser redução de danos (ex: não beber durante o dia)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"E se a família não colaborar?"</a:t>
            </a:r>
          </a:p>
          <a:p>
            <a:pPr>
              <a:spcAft>
                <a:spcPts val="1200"/>
              </a:spcAft>
              <a:defRPr sz="1600" b="0">
                <a:solidFill>
                  <a:srgbClr val="2D3436"/>
                </a:solidFill>
              </a:defRPr>
            </a:pPr>
            <a:r>
              <a:t>→ PTS inclui trabalho com família, mas não depende só dela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"E o desemprego?"</a:t>
            </a:r>
          </a:p>
          <a:p>
            <a:pPr>
              <a:spcAft>
                <a:spcPts val="1200"/>
              </a:spcAft>
              <a:defRPr sz="1600" b="0">
                <a:solidFill>
                  <a:srgbClr val="2D3436"/>
                </a:solidFill>
              </a:defRPr>
            </a:pPr>
            <a:r>
              <a:t>→ Meta intersetorial: CRAS, capacitação profissional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Síntese: Fluxo do 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5486400" cy="6400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234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CASO COMPLEXO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691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859"/>
                </a:solidFill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920240"/>
            <a:ext cx="5486400" cy="640080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57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DIAGNÓSTICO INTEGRAL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514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859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743200"/>
            <a:ext cx="5486400" cy="64008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DEFINIÇÃO DE METAS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337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859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566160"/>
            <a:ext cx="5486400" cy="6400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703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RESPONSABILIDADES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160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859"/>
                </a:solidFill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389120"/>
            <a:ext cx="5486400" cy="6400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4526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REAVALIAÇÃO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CA9"/>
                </a:solidFill>
              </a:defRPr>
            </a:pPr>
            <a:r>
              <a:t>Checklist de Bolso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☐ Caso consumiu múltiplas consultas sem resolução?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☐ Complexidade biopsicossocial evidente?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☐ CuidaSM indica Nível 3 ou 4?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☐ Usuário/família pode participar da construção?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☐ Equipe mínima para dividir responsabilidades?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 b="1">
                <a:solidFill>
                  <a:srgbClr val="2D3436"/>
                </a:solidFill>
              </a:defRPr>
            </a:pPr>
            <a:r>
              <a:t>Se SIM para 3 ou mais → considere PTS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A859"/>
                </a:solidFill>
              </a:defRPr>
            </a:pPr>
            <a:r>
              <a:t>Indicadores de Qualidade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Indicador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Fórmula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Cobertura PTS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(Usuários com PTS / Total) ×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Participação usuário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(PTS c/ assinatura / Total) × 100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≥80%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Revisão no prazo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(Revisados até data / Ativos) ×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≥90%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Metas alcançadas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(Alcançadas / Total metas) × 100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6"/>
                          </a:solidFill>
                        </a:defRPr>
                      </a:pPr>
                      <a:r>
                        <a:t>≥70%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Quiz Rápido — 4 Perguntas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8595360" cy="1005840"/>
          </a:xfrm>
          <a:prstGeom prst="round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1. PTS é obrigatório para qual classificação mínima?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→ Amarelo (Moderado)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03120"/>
            <a:ext cx="8595360" cy="1005840"/>
          </a:xfrm>
          <a:prstGeom prst="round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2. Quantos momentos estruturais tem o PTS?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→ 4 (Diagnóstico, Metas, Responsabilidades, Reavaliação)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00400"/>
            <a:ext cx="8595360" cy="1005840"/>
          </a:xfrm>
          <a:prstGeom prst="round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3. Metas devem ser definidas por quem?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→ Equipe + Usuário (co-construção)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297680"/>
            <a:ext cx="8595360" cy="1005840"/>
          </a:xfrm>
          <a:prstGeom prst="round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4. Qual instrumento usar para estratificar?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→ CuidaSM (0-11 pontos, 4 níveis)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CA9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D3436"/>
                </a:solidFill>
              </a:defRPr>
            </a:pPr>
            <a:r>
              <a:t>Esta semana: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1. Identifique 1 caso "Dona Maria" na agenda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2. Aplique os 4 momentos mentalmente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3. Aplique CuidaSM para estratificar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4. Traga dúvidas para o próximo encontro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 b="1">
                <a:solidFill>
                  <a:srgbClr val="2D3436"/>
                </a:solidFill>
              </a:defRPr>
            </a:pPr>
            <a:r>
              <a:t>Recursos disponíveis: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• Template PTS (F-02) | Checklist de bolso | Escala CuidaSM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• Contato Coordenação SM | Matriciamento mensal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CA9"/>
                </a:solidFill>
              </a:defRPr>
            </a:pPr>
            <a: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D3436"/>
                </a:solidFill>
              </a:defRPr>
            </a:pPr>
            <a:r>
              <a:t>1. Brasil. MS. Clínica ampliada e PTS. 2ª ed. Brasília: MS; 2007.</a:t>
            </a:r>
          </a:p>
          <a:p>
            <a:pPr>
              <a:spcAft>
                <a:spcPts val="1200"/>
              </a:spcAft>
              <a:defRPr sz="1200" b="0">
                <a:solidFill>
                  <a:srgbClr val="2D3436"/>
                </a:solidFill>
              </a:defRPr>
            </a:pPr>
            <a:r>
              <a:t>2. Brasil. MS. CAB 34: Saúde Mental. Brasília: MS; 2013.</a:t>
            </a:r>
          </a:p>
          <a:p>
            <a:pPr>
              <a:spcAft>
                <a:spcPts val="1200"/>
              </a:spcAft>
              <a:defRPr sz="1200" b="0">
                <a:solidFill>
                  <a:srgbClr val="2D3436"/>
                </a:solidFill>
              </a:defRPr>
            </a:pPr>
            <a:r>
              <a:t>3. Campos GWS. Apoio matricial. Cad Saúde Pública. 2007;23(2).</a:t>
            </a:r>
          </a:p>
          <a:p>
            <a:pPr>
              <a:spcAft>
                <a:spcPts val="1200"/>
              </a:spcAft>
              <a:defRPr sz="1200" b="0">
                <a:solidFill>
                  <a:srgbClr val="2D3436"/>
                </a:solidFill>
              </a:defRPr>
            </a:pPr>
            <a:r>
              <a:t>4. Brasil. MS. Política Nacional de Humanização. Brasília: MS; 2004.</a:t>
            </a:r>
          </a:p>
          <a:p>
            <a:pPr>
              <a:spcAft>
                <a:spcPts val="1200"/>
              </a:spcAft>
              <a:defRPr sz="1200" b="0">
                <a:solidFill>
                  <a:srgbClr val="2D3436"/>
                </a:solidFill>
              </a:defRPr>
            </a:pPr>
            <a:r>
              <a:t>5. Brasil. MS. Linha de Cuidado TEA. Brasília: MS; 2025.</a:t>
            </a:r>
          </a:p>
          <a:p>
            <a:pPr>
              <a:spcAft>
                <a:spcPts val="1200"/>
              </a:spcAft>
              <a:defRPr sz="1200" b="0">
                <a:solidFill>
                  <a:srgbClr val="2D3436"/>
                </a:solidFill>
              </a:defRPr>
            </a:pPr>
            <a:r>
              <a:t>6. Kroenke K. The PHQ-9. J Gen Intern Med. 2001;16(9):606-13.</a:t>
            </a:r>
          </a:p>
          <a:p>
            <a:pPr>
              <a:spcAft>
                <a:spcPts val="1200"/>
              </a:spcAft>
              <a:defRPr sz="1200" b="0">
                <a:solidFill>
                  <a:srgbClr val="2D3436"/>
                </a:solidFill>
              </a:defRPr>
            </a:pPr>
            <a:r>
              <a:t>7. Spitzer RL. The GAD-7. Arch Intern Med. 2006;166(10):1092-7.</a:t>
            </a:r>
          </a:p>
          <a:p>
            <a:pPr>
              <a:spcAft>
                <a:spcPts val="1200"/>
              </a:spcAft>
              <a:defRPr sz="1200" b="0">
                <a:solidFill>
                  <a:srgbClr val="2D3436"/>
                </a:solidFill>
              </a:defRPr>
            </a:pPr>
            <a:r>
              <a:t>8. Saunders JB. Development of AUDIT. Addiction. 1993;88(6):791-804.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Vocês na APS são fundamentais.</a:t>
            </a:r>
            <a:br/>
            <a:r>
              <a:t>A gente está junto nessa.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5 casos trabalhados: Dona Maria | Lucas | Carla | Seu Antônio | Sr. João</a:t>
            </a:r>
          </a:p>
          <a:p>
            <a:br/>
            <a:pPr algn="ctr">
              <a:defRPr sz="1200">
                <a:solidFill>
                  <a:srgbClr val="FFFFFF"/>
                </a:solidFill>
              </a:defRPr>
            </a:pPr>
            <a:r>
              <a:t>Coordenação Municipal de Saúde Mental</a:t>
            </a:r>
            <a:br/>
            <a:r>
              <a:t>Extrema/MG — Janeiro 2026 |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